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61" r:id="rId6"/>
    <p:sldId id="277" r:id="rId7"/>
    <p:sldId id="262" r:id="rId8"/>
    <p:sldId id="263" r:id="rId9"/>
    <p:sldId id="278" r:id="rId10"/>
    <p:sldId id="279" r:id="rId11"/>
    <p:sldId id="280" r:id="rId12"/>
    <p:sldId id="264" r:id="rId13"/>
    <p:sldId id="274" r:id="rId14"/>
    <p:sldId id="275" r:id="rId15"/>
    <p:sldId id="276" r:id="rId16"/>
    <p:sldId id="281" r:id="rId17"/>
    <p:sldId id="282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C3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120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06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14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35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0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734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84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88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86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7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07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74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8C84122-4D9A-4B61-802C-F6077E6872CB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A1D3241-F983-4399-90D3-8648B0C12E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96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able With Many Indian Foods Background, Indian Food Pictures, Food, Indian  Food Background Image And Wallpaper for Free Download">
            <a:extLst>
              <a:ext uri="{FF2B5EF4-FFF2-40B4-BE49-F238E27FC236}">
                <a16:creationId xmlns:a16="http://schemas.microsoft.com/office/drawing/2014/main" id="{74294D0F-5A27-1487-5796-DA7124C252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-1680"/>
          <a:stretch/>
        </p:blipFill>
        <p:spPr bwMode="auto">
          <a:xfrm>
            <a:off x="-9057" y="-1"/>
            <a:ext cx="12290540" cy="7071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56243-5C89-4B29-8FD1-99381E9D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5925" y="943805"/>
            <a:ext cx="8158264" cy="1805659"/>
          </a:xfrm>
        </p:spPr>
        <p:txBody>
          <a:bodyPr>
            <a:normAutofit/>
          </a:bodyPr>
          <a:lstStyle/>
          <a:p>
            <a:pPr algn="ctr"/>
            <a:r>
              <a:rPr lang="en-IN" sz="9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RecipeLens</a:t>
            </a:r>
            <a:br>
              <a:rPr lang="en-IN" b="1" dirty="0"/>
            </a:br>
            <a:r>
              <a:rPr lang="en-IN" sz="2800" b="1" dirty="0">
                <a:solidFill>
                  <a:schemeClr val="bg1"/>
                </a:solidFill>
              </a:rPr>
              <a:t>Recipe from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EA093-2176-3D28-1161-F097E476E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6268" y="3174230"/>
            <a:ext cx="3699464" cy="2525000"/>
          </a:xfrm>
        </p:spPr>
        <p:txBody>
          <a:bodyPr>
            <a:no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Guided by : Mr. Sudip Kumar De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bg1"/>
                </a:solidFill>
              </a:rPr>
              <a:t>Presented By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bg1"/>
                </a:solidFill>
              </a:rPr>
              <a:t>Biplab Gorain (10800221149)</a:t>
            </a:r>
          </a:p>
          <a:p>
            <a:pPr algn="l"/>
            <a:r>
              <a:rPr lang="en-IN" sz="1800" b="1" dirty="0">
                <a:solidFill>
                  <a:schemeClr val="bg1"/>
                </a:solidFill>
              </a:rPr>
              <a:t>Sheela Bhattacharjee (1080022006</a:t>
            </a:r>
            <a:r>
              <a:rPr lang="en-IN" b="1" dirty="0">
                <a:solidFill>
                  <a:schemeClr val="bg1"/>
                </a:solidFill>
              </a:rPr>
              <a:t>6</a:t>
            </a:r>
            <a:r>
              <a:rPr lang="en-IN" sz="1800" b="1" dirty="0">
                <a:solidFill>
                  <a:schemeClr val="bg1"/>
                </a:solidFill>
              </a:rPr>
              <a:t>)</a:t>
            </a:r>
          </a:p>
          <a:p>
            <a:pPr algn="l"/>
            <a:r>
              <a:rPr lang="en-IN" sz="1800" b="1" dirty="0">
                <a:solidFill>
                  <a:schemeClr val="bg1"/>
                </a:solidFill>
              </a:rPr>
              <a:t>Bishnu Sharma (10800220065)</a:t>
            </a:r>
          </a:p>
          <a:p>
            <a:pPr algn="l"/>
            <a:r>
              <a:rPr lang="en-IN" sz="1800" b="1">
                <a:solidFill>
                  <a:schemeClr val="bg1"/>
                </a:solidFill>
              </a:rPr>
              <a:t>Projjal</a:t>
            </a:r>
            <a:r>
              <a:rPr lang="en-IN" sz="1800" b="1" dirty="0">
                <a:solidFill>
                  <a:schemeClr val="bg1"/>
                </a:solidFill>
              </a:rPr>
              <a:t> Mitra (10800220059)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77D3365-8D88-18CF-8020-2730FD12B44F}"/>
              </a:ext>
            </a:extLst>
          </p:cNvPr>
          <p:cNvSpPr txBox="1">
            <a:spLocks/>
          </p:cNvSpPr>
          <p:nvPr/>
        </p:nvSpPr>
        <p:spPr>
          <a:xfrm>
            <a:off x="1752600" y="116289"/>
            <a:ext cx="8686800" cy="794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chemeClr val="bg1"/>
                </a:solidFill>
              </a:rPr>
              <a:t>ASANSOL ENGINEERING COLLEGE</a:t>
            </a:r>
          </a:p>
        </p:txBody>
      </p:sp>
      <p:pic>
        <p:nvPicPr>
          <p:cNvPr id="1034" name="Picture 10" descr="Asansol Engineering College - Wikipedia">
            <a:extLst>
              <a:ext uri="{FF2B5EF4-FFF2-40B4-BE49-F238E27FC236}">
                <a16:creationId xmlns:a16="http://schemas.microsoft.com/office/drawing/2014/main" id="{6B298EC6-5408-54C2-2F34-65D02CA6F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4405"/>
            <a:ext cx="467475" cy="53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56ABA29-DB00-5995-B1AD-CD1B0491BCDB}"/>
              </a:ext>
            </a:extLst>
          </p:cNvPr>
          <p:cNvSpPr txBox="1">
            <a:spLocks/>
          </p:cNvSpPr>
          <p:nvPr/>
        </p:nvSpPr>
        <p:spPr>
          <a:xfrm>
            <a:off x="1752600" y="6076735"/>
            <a:ext cx="8686800" cy="5188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</a:rPr>
              <a:t>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2314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32D8-BFA5-B834-4AC6-BE35893D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</a:t>
            </a:r>
            <a:r>
              <a:rPr lang="en-I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RecipeLens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E1D28-602E-CD20-603D-D9389BB98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RecipeLens</a:t>
            </a:r>
            <a:r>
              <a:rPr lang="en-US" dirty="0"/>
              <a:t>, from the name itself, we can guess that it’s something related to recipes. But what is the meaning of 'lens' here? </a:t>
            </a:r>
          </a:p>
          <a:p>
            <a:pPr marL="0" indent="0" algn="just">
              <a:buNone/>
            </a:pPr>
            <a:r>
              <a:rPr lang="en-US" dirty="0"/>
              <a:t>So, </a:t>
            </a:r>
            <a:r>
              <a:rPr lang="en-US" dirty="0" err="1"/>
              <a:t>RecipeLens</a:t>
            </a:r>
            <a:r>
              <a:rPr lang="en-US" dirty="0"/>
              <a:t> is a type of Google Lens. Just as Google Lens helps us find many things from the web by taking images of them, </a:t>
            </a:r>
            <a:r>
              <a:rPr lang="en-US" dirty="0" err="1"/>
              <a:t>RecipeLens</a:t>
            </a:r>
            <a:r>
              <a:rPr lang="en-US" dirty="0"/>
              <a:t> also finds recipes by simply taking images of foods.</a:t>
            </a:r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06002EF-7837-8C5B-AAF5-44136F92AD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7"/>
          <a:stretch/>
        </p:blipFill>
        <p:spPr bwMode="auto">
          <a:xfrm>
            <a:off x="3919872" y="4001294"/>
            <a:ext cx="4352400" cy="250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1630EFC-5107-A636-D49F-E8340BDC0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2" r="178"/>
          <a:stretch/>
        </p:blipFill>
        <p:spPr bwMode="auto">
          <a:xfrm rot="3169578">
            <a:off x="13107925" y="8730296"/>
            <a:ext cx="4352543" cy="249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4084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32D8-BFA5-B834-4AC6-BE35893D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</a:t>
            </a:r>
            <a:r>
              <a:rPr lang="en-I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RecipeLens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E1D28-602E-CD20-603D-D9389BB98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RecipeLens</a:t>
            </a:r>
            <a:r>
              <a:rPr lang="en-US" dirty="0"/>
              <a:t>, from the name itself, we can guess that it’s something related to recipes. But what is the meaning of 'lens' here? </a:t>
            </a:r>
          </a:p>
          <a:p>
            <a:pPr marL="0" indent="0" algn="just">
              <a:buNone/>
            </a:pPr>
            <a:r>
              <a:rPr lang="en-US" dirty="0"/>
              <a:t>So, </a:t>
            </a:r>
            <a:r>
              <a:rPr lang="en-US" dirty="0" err="1"/>
              <a:t>RecipeLens</a:t>
            </a:r>
            <a:r>
              <a:rPr lang="en-US" dirty="0"/>
              <a:t> is a type of Google Lens. Just as Google Lens helps us find many things from the web by taking images of them, </a:t>
            </a:r>
            <a:r>
              <a:rPr lang="en-US" dirty="0" err="1"/>
              <a:t>RecipeLens</a:t>
            </a:r>
            <a:r>
              <a:rPr lang="en-US" dirty="0"/>
              <a:t> also finds recipes by simply taking images of foods.</a:t>
            </a:r>
            <a:endParaRPr lang="en-IN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EDD2F56-404C-BE16-2F20-AED71AA0EB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2" r="178"/>
          <a:stretch/>
        </p:blipFill>
        <p:spPr bwMode="auto">
          <a:xfrm>
            <a:off x="3919729" y="4001294"/>
            <a:ext cx="4352543" cy="249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D6D2183D-CC0C-34DF-FEC4-0F11A720FE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7"/>
          <a:stretch/>
        </p:blipFill>
        <p:spPr bwMode="auto">
          <a:xfrm rot="18376854">
            <a:off x="-5245836" y="8863654"/>
            <a:ext cx="4352400" cy="250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6ACD8044-944F-B59F-0A56-8D469183E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41022" r="-2" b="20640"/>
          <a:stretch/>
        </p:blipFill>
        <p:spPr bwMode="auto">
          <a:xfrm rot="3217909">
            <a:off x="13106220" y="8821854"/>
            <a:ext cx="4352400" cy="250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991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32D8-BFA5-B834-4AC6-BE35893D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</a:t>
            </a:r>
            <a:r>
              <a:rPr lang="en-I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RecipeLens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E1D28-602E-CD20-603D-D9389BB98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RecipeLens</a:t>
            </a:r>
            <a:r>
              <a:rPr lang="en-US" dirty="0"/>
              <a:t>, from the name itself, we can guess that it’s something related to recipes. But what is the meaning of 'lens' here? </a:t>
            </a:r>
          </a:p>
          <a:p>
            <a:pPr marL="0" indent="0" algn="just">
              <a:buNone/>
            </a:pPr>
            <a:r>
              <a:rPr lang="en-US" dirty="0"/>
              <a:t>So, </a:t>
            </a:r>
            <a:r>
              <a:rPr lang="en-US" dirty="0" err="1"/>
              <a:t>RecipeLens</a:t>
            </a:r>
            <a:r>
              <a:rPr lang="en-US" dirty="0"/>
              <a:t> is a type of Google Lens. Just as Google Lens helps us find many things from the web by taking images of them, </a:t>
            </a:r>
            <a:r>
              <a:rPr lang="en-US" dirty="0" err="1"/>
              <a:t>RecipeLens</a:t>
            </a:r>
            <a:r>
              <a:rPr lang="en-US" dirty="0"/>
              <a:t> also finds recipes by simply taking images of foods.</a:t>
            </a:r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06002EF-7837-8C5B-AAF5-44136F92AD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41022" r="-2" b="20640"/>
          <a:stretch/>
        </p:blipFill>
        <p:spPr bwMode="auto">
          <a:xfrm>
            <a:off x="3919872" y="4001294"/>
            <a:ext cx="4352400" cy="250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1630EFC-5107-A636-D49F-E8340BDC0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2" r="178"/>
          <a:stretch/>
        </p:blipFill>
        <p:spPr bwMode="auto">
          <a:xfrm rot="18332554">
            <a:off x="-5233126" y="8671435"/>
            <a:ext cx="4352543" cy="249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336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3017-BCE5-0F8E-24EB-F4C89AF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</a:t>
            </a:r>
            <a:r>
              <a:rPr lang="en-I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recipelens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07A33-5B35-D0EB-700D-E102DD6CD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8016" lvl="1" indent="0" algn="just">
              <a:buNone/>
            </a:pPr>
            <a:r>
              <a:rPr lang="en-IN" dirty="0"/>
              <a:t>The working principal of </a:t>
            </a:r>
            <a:r>
              <a:rPr lang="en-IN" dirty="0" err="1"/>
              <a:t>RecipeLens</a:t>
            </a:r>
            <a:r>
              <a:rPr lang="en-IN" dirty="0"/>
              <a:t> is given bellow – </a:t>
            </a:r>
          </a:p>
          <a:p>
            <a:pPr marL="128016" lvl="1" indent="0" algn="just">
              <a:buNone/>
            </a:pPr>
            <a:r>
              <a:rPr lang="en-IN" dirty="0"/>
              <a:t>Mainly it has three part…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56629D3-4C93-E70E-2125-7E600169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321" y="2286000"/>
            <a:ext cx="47625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8931307-D562-8CEA-28EC-EB5A9B6F6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839293">
            <a:off x="18313444" y="3267834"/>
            <a:ext cx="4133490" cy="272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A6228B-3FF7-72F9-03F3-947C7344310E}"/>
              </a:ext>
            </a:extLst>
          </p:cNvPr>
          <p:cNvSpPr txBox="1"/>
          <p:nvPr/>
        </p:nvSpPr>
        <p:spPr>
          <a:xfrm>
            <a:off x="1024128" y="3204894"/>
            <a:ext cx="1151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lvl="1" indent="0" algn="just">
              <a:buNone/>
            </a:pPr>
            <a:r>
              <a:rPr lang="en-IN" dirty="0"/>
              <a:t>Part 1 – </a:t>
            </a:r>
          </a:p>
          <a:p>
            <a:pPr marL="128016" lvl="1" indent="0" algn="just">
              <a:buNone/>
            </a:pPr>
            <a:r>
              <a:rPr lang="en-IN" dirty="0"/>
              <a:t>	Preprocessing of image</a:t>
            </a:r>
          </a:p>
        </p:txBody>
      </p:sp>
    </p:spTree>
    <p:extLst>
      <p:ext uri="{BB962C8B-B14F-4D97-AF65-F5344CB8AC3E}">
        <p14:creationId xmlns:p14="http://schemas.microsoft.com/office/powerpoint/2010/main" val="2601989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3017-BCE5-0F8E-24EB-F4C89AF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</a:t>
            </a:r>
            <a:r>
              <a:rPr lang="en-I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recipelens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07A33-5B35-D0EB-700D-E102DD6CD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8016" lvl="1" indent="0" algn="just">
              <a:buNone/>
            </a:pPr>
            <a:r>
              <a:rPr lang="en-IN" dirty="0"/>
              <a:t>The working principal of </a:t>
            </a:r>
            <a:r>
              <a:rPr lang="en-IN" dirty="0" err="1"/>
              <a:t>RecipeLens</a:t>
            </a:r>
            <a:r>
              <a:rPr lang="en-IN" dirty="0"/>
              <a:t> is given bellow – </a:t>
            </a:r>
          </a:p>
          <a:p>
            <a:pPr marL="128016" lvl="1" indent="0" algn="just">
              <a:buNone/>
            </a:pPr>
            <a:r>
              <a:rPr lang="en-IN" dirty="0"/>
              <a:t>Mainly it has three part…</a:t>
            </a:r>
          </a:p>
          <a:p>
            <a:pPr marL="128016" lvl="1" indent="0" algn="just"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56629D3-4C93-E70E-2125-7E600169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57759" y="2286000"/>
            <a:ext cx="4137623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8931307-D562-8CEA-28EC-EB5A9B6F6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9293">
            <a:off x="17998939" y="3267834"/>
            <a:ext cx="4762501" cy="272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D38A2D-7A62-9E9E-E72B-B8D03BA5CD24}"/>
              </a:ext>
            </a:extLst>
          </p:cNvPr>
          <p:cNvSpPr txBox="1"/>
          <p:nvPr/>
        </p:nvSpPr>
        <p:spPr>
          <a:xfrm>
            <a:off x="1024128" y="3204894"/>
            <a:ext cx="1151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lvl="1" indent="0" algn="just">
              <a:buNone/>
            </a:pPr>
            <a:r>
              <a:rPr lang="en-IN" dirty="0"/>
              <a:t>Part 2 – </a:t>
            </a:r>
          </a:p>
          <a:p>
            <a:pPr marL="128016" lvl="1" indent="0" algn="just">
              <a:buNone/>
            </a:pPr>
            <a:r>
              <a:rPr lang="en-IN" dirty="0"/>
              <a:t>	Calculate similarity</a:t>
            </a:r>
          </a:p>
        </p:txBody>
      </p:sp>
    </p:spTree>
    <p:extLst>
      <p:ext uri="{BB962C8B-B14F-4D97-AF65-F5344CB8AC3E}">
        <p14:creationId xmlns:p14="http://schemas.microsoft.com/office/powerpoint/2010/main" val="2603649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3017-BCE5-0F8E-24EB-F4C89AF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</a:t>
            </a:r>
            <a:r>
              <a:rPr lang="en-I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recipelens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07A33-5B35-D0EB-700D-E102DD6CD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8016" lvl="1" indent="0" algn="just">
              <a:buNone/>
            </a:pPr>
            <a:r>
              <a:rPr lang="en-IN" dirty="0"/>
              <a:t>The working principal of </a:t>
            </a:r>
            <a:r>
              <a:rPr lang="en-IN" dirty="0" err="1"/>
              <a:t>RecipeLens</a:t>
            </a:r>
            <a:r>
              <a:rPr lang="en-IN" dirty="0"/>
              <a:t> is given bellow – </a:t>
            </a:r>
          </a:p>
          <a:p>
            <a:pPr marL="128016" lvl="1" indent="0" algn="just">
              <a:buNone/>
            </a:pPr>
            <a:r>
              <a:rPr lang="en-IN" dirty="0"/>
              <a:t>Mainly it has three part…</a:t>
            </a:r>
          </a:p>
          <a:p>
            <a:pPr marL="128016" lvl="1" indent="0" algn="just"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8931307-D562-8CEA-28EC-EB5A9B6F6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321" y="2288721"/>
            <a:ext cx="4762501" cy="272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156629D3-4C93-E70E-2125-7E600169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322" y="7268954"/>
            <a:ext cx="47625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28D6A1-A1A8-9FBA-59B0-4091F25595C1}"/>
              </a:ext>
            </a:extLst>
          </p:cNvPr>
          <p:cNvSpPr txBox="1"/>
          <p:nvPr/>
        </p:nvSpPr>
        <p:spPr>
          <a:xfrm>
            <a:off x="1024128" y="3204894"/>
            <a:ext cx="11510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lvl="1" indent="0" algn="just">
              <a:buNone/>
            </a:pPr>
            <a:r>
              <a:rPr lang="en-IN" dirty="0"/>
              <a:t>Part 3 – </a:t>
            </a:r>
          </a:p>
          <a:p>
            <a:pPr marL="128016" lvl="1" indent="0" algn="just">
              <a:buNone/>
            </a:pPr>
            <a:r>
              <a:rPr lang="en-IN" dirty="0"/>
              <a:t>	Retrieve the recipes.</a:t>
            </a:r>
          </a:p>
          <a:p>
            <a:pPr marL="128016" lvl="1" indent="0" algn="just">
              <a:buNone/>
            </a:pPr>
            <a:endParaRPr lang="en-IN" dirty="0"/>
          </a:p>
          <a:p>
            <a:pPr marL="128016" lvl="1" indent="0" algn="just">
              <a:buNone/>
            </a:pPr>
            <a:r>
              <a:rPr lang="en-IN" dirty="0"/>
              <a:t>And he finally show the recipe to the user.</a:t>
            </a:r>
          </a:p>
        </p:txBody>
      </p:sp>
    </p:spTree>
    <p:extLst>
      <p:ext uri="{BB962C8B-B14F-4D97-AF65-F5344CB8AC3E}">
        <p14:creationId xmlns:p14="http://schemas.microsoft.com/office/powerpoint/2010/main" val="3650666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78EA-1CF9-85BF-3844-83FF949A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1 : Preprocessing of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8811-215C-C5BE-EC12-88F65B4AA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image that is being uploaded is converted into 1D array.</a:t>
            </a:r>
          </a:p>
          <a:p>
            <a:pPr algn="just"/>
            <a:r>
              <a:rPr lang="en-IN" dirty="0"/>
              <a:t>To convert the image into 1D array the pretrained model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IN" dirty="0"/>
              <a:t> is used .</a:t>
            </a:r>
          </a:p>
          <a:p>
            <a:pPr algn="just"/>
            <a:r>
              <a:rPr lang="en-US" dirty="0"/>
              <a:t>Furthermore the 1D array is being sent for similarity check.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4C7FE-1F6F-46BD-DD2A-F4BDBC10F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866" y="4161004"/>
            <a:ext cx="2138595" cy="213859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72E8489-B629-F73C-17FE-39C01E45F1FC}"/>
              </a:ext>
            </a:extLst>
          </p:cNvPr>
          <p:cNvGrpSpPr/>
          <p:nvPr/>
        </p:nvGrpSpPr>
        <p:grpSpPr>
          <a:xfrm>
            <a:off x="14089888" y="4330302"/>
            <a:ext cx="1800000" cy="2090506"/>
            <a:chOff x="4957894" y="4297680"/>
            <a:chExt cx="1800000" cy="209050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83B3FED-D83E-053F-DF70-EB5E657792A7}"/>
                </a:ext>
              </a:extLst>
            </p:cNvPr>
            <p:cNvSpPr/>
            <p:nvPr/>
          </p:nvSpPr>
          <p:spPr>
            <a:xfrm>
              <a:off x="4957894" y="4297680"/>
              <a:ext cx="1800000" cy="20779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21E5C37-A664-A32C-F17F-313392F8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57894" y="4297680"/>
              <a:ext cx="1800000" cy="1800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F49EAA-0902-E424-1563-2950DA6D7DB8}"/>
                </a:ext>
              </a:extLst>
            </p:cNvPr>
            <p:cNvSpPr txBox="1"/>
            <p:nvPr/>
          </p:nvSpPr>
          <p:spPr>
            <a:xfrm>
              <a:off x="4957894" y="6018854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Dosa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6090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78EA-1CF9-85BF-3844-83FF949A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1 : Preprocessing of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8811-215C-C5BE-EC12-88F65B4AA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image that is being uploaded is converted into 1D array.</a:t>
            </a:r>
          </a:p>
          <a:p>
            <a:pPr algn="just"/>
            <a:r>
              <a:rPr lang="en-IN" dirty="0"/>
              <a:t>To convert the image into 1D array the pretrained model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IN" dirty="0"/>
              <a:t> is used .</a:t>
            </a:r>
          </a:p>
          <a:p>
            <a:pPr algn="just"/>
            <a:r>
              <a:rPr lang="en-US" dirty="0"/>
              <a:t>Furthermore the 1D array is being sent for similarity check.</a:t>
            </a:r>
            <a:endParaRPr lang="en-I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2E8489-B629-F73C-17FE-39C01E45F1FC}"/>
              </a:ext>
            </a:extLst>
          </p:cNvPr>
          <p:cNvGrpSpPr/>
          <p:nvPr/>
        </p:nvGrpSpPr>
        <p:grpSpPr>
          <a:xfrm>
            <a:off x="14089888" y="4330302"/>
            <a:ext cx="1800000" cy="2090506"/>
            <a:chOff x="4957894" y="4297680"/>
            <a:chExt cx="1800000" cy="209050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83B3FED-D83E-053F-DF70-EB5E657792A7}"/>
                </a:ext>
              </a:extLst>
            </p:cNvPr>
            <p:cNvSpPr/>
            <p:nvPr/>
          </p:nvSpPr>
          <p:spPr>
            <a:xfrm>
              <a:off x="4957894" y="4297680"/>
              <a:ext cx="1800000" cy="20779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21E5C37-A664-A32C-F17F-313392F8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57894" y="4297680"/>
              <a:ext cx="1800000" cy="1800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F49EAA-0902-E424-1563-2950DA6D7DB8}"/>
                </a:ext>
              </a:extLst>
            </p:cNvPr>
            <p:cNvSpPr txBox="1"/>
            <p:nvPr/>
          </p:nvSpPr>
          <p:spPr>
            <a:xfrm>
              <a:off x="4957894" y="6018854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Dosa</a:t>
              </a:r>
            </a:p>
          </p:txBody>
        </p:sp>
      </p:grpSp>
      <p:pic>
        <p:nvPicPr>
          <p:cNvPr id="1026" name="Picture 2" descr="NumPy: Create a 1-D array going from 0 to 50 - w3resource">
            <a:extLst>
              <a:ext uri="{FF2B5EF4-FFF2-40B4-BE49-F238E27FC236}">
                <a16:creationId xmlns:a16="http://schemas.microsoft.com/office/drawing/2014/main" id="{553AD83B-4FF8-C51D-1A5F-D9E7D237C9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09" b="8723"/>
          <a:stretch/>
        </p:blipFill>
        <p:spPr bwMode="auto">
          <a:xfrm>
            <a:off x="2109787" y="4297680"/>
            <a:ext cx="7972425" cy="9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509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78EA-1CF9-85BF-3844-83FF949A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2 : Calculate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8811-215C-C5BE-EC12-88F65B4AA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Calculate similarity using cosine distance between 1-D arrays from the already encoded foods.</a:t>
            </a:r>
          </a:p>
          <a:p>
            <a:pPr algn="just"/>
            <a:r>
              <a:rPr lang="en-US" dirty="0"/>
              <a:t>All the most similar foods (less distance between them) is picked up for the result.</a:t>
            </a:r>
          </a:p>
          <a:p>
            <a:pPr algn="just"/>
            <a:endParaRPr lang="en-I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2E8489-B629-F73C-17FE-39C01E45F1FC}"/>
              </a:ext>
            </a:extLst>
          </p:cNvPr>
          <p:cNvGrpSpPr/>
          <p:nvPr/>
        </p:nvGrpSpPr>
        <p:grpSpPr>
          <a:xfrm>
            <a:off x="14089888" y="4330302"/>
            <a:ext cx="1800000" cy="2090506"/>
            <a:chOff x="4957894" y="4297680"/>
            <a:chExt cx="1800000" cy="209050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83B3FED-D83E-053F-DF70-EB5E657792A7}"/>
                </a:ext>
              </a:extLst>
            </p:cNvPr>
            <p:cNvSpPr/>
            <p:nvPr/>
          </p:nvSpPr>
          <p:spPr>
            <a:xfrm>
              <a:off x="4957894" y="4297680"/>
              <a:ext cx="1800000" cy="20779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21E5C37-A664-A32C-F17F-313392F8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57894" y="4297680"/>
              <a:ext cx="1800000" cy="1800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F49EAA-0902-E424-1563-2950DA6D7DB8}"/>
                </a:ext>
              </a:extLst>
            </p:cNvPr>
            <p:cNvSpPr txBox="1"/>
            <p:nvPr/>
          </p:nvSpPr>
          <p:spPr>
            <a:xfrm>
              <a:off x="4957894" y="6018854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Dosa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719FDFD-12FF-CD7E-C08B-F7B8A8DDF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490" y="3689978"/>
            <a:ext cx="3925019" cy="25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82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78EA-1CF9-85BF-3844-83FF949A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3 : Retrieve the recipes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8811-215C-C5BE-EC12-88F65B4AA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Get the recipes of all the picked foods from the database </a:t>
            </a:r>
          </a:p>
          <a:p>
            <a:pPr algn="just"/>
            <a:r>
              <a:rPr lang="en-US" dirty="0"/>
              <a:t>Show the generated recipe along with the original image and cooking instructions on the web interface</a:t>
            </a:r>
            <a:endParaRPr lang="en-I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2E8489-B629-F73C-17FE-39C01E45F1FC}"/>
              </a:ext>
            </a:extLst>
          </p:cNvPr>
          <p:cNvGrpSpPr/>
          <p:nvPr/>
        </p:nvGrpSpPr>
        <p:grpSpPr>
          <a:xfrm>
            <a:off x="14089888" y="4330302"/>
            <a:ext cx="1800000" cy="2090506"/>
            <a:chOff x="4957894" y="4297680"/>
            <a:chExt cx="1800000" cy="209050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83B3FED-D83E-053F-DF70-EB5E657792A7}"/>
                </a:ext>
              </a:extLst>
            </p:cNvPr>
            <p:cNvSpPr/>
            <p:nvPr/>
          </p:nvSpPr>
          <p:spPr>
            <a:xfrm>
              <a:off x="4957894" y="4297680"/>
              <a:ext cx="1800000" cy="20779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21E5C37-A664-A32C-F17F-313392F8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57894" y="4297680"/>
              <a:ext cx="1800000" cy="1800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F49EAA-0902-E424-1563-2950DA6D7DB8}"/>
                </a:ext>
              </a:extLst>
            </p:cNvPr>
            <p:cNvSpPr txBox="1"/>
            <p:nvPr/>
          </p:nvSpPr>
          <p:spPr>
            <a:xfrm>
              <a:off x="4957894" y="6018854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Dosa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EA82FF-5023-DB4C-41DE-CA4A76E5B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703" y="3730469"/>
            <a:ext cx="4352921" cy="25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662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4F91-1D66-07AC-9232-2123312A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B41-CC29-D012-EC16-D43FB371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927680" cy="4023360"/>
          </a:xfrm>
        </p:spPr>
        <p:txBody>
          <a:bodyPr/>
          <a:lstStyle/>
          <a:p>
            <a:pPr algn="just"/>
            <a:r>
              <a:rPr lang="en-IN" dirty="0"/>
              <a:t>Here the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architecture of </a:t>
            </a:r>
            <a:r>
              <a:rPr lang="en-US" dirty="0" err="1"/>
              <a:t>keras</a:t>
            </a:r>
            <a:r>
              <a:rPr lang="en-US" dirty="0"/>
              <a:t> TensorFlow, which is a pre-trained convolutional neural network (CNN) for image classification is used.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How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Works?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is trained on large-scale datasets like ImageNet, making it capable of generalizing well to a variety of image recognition tasks. Its efficiency and accuracy make it particularly useful for applications on mobile devices, where computational resources may be limited.</a:t>
            </a:r>
          </a:p>
          <a:p>
            <a:pPr marL="128016" lvl="1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A9F100-30F1-6D19-313A-2EDF8BCDF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5400000">
            <a:off x="7555721" y="2123450"/>
            <a:ext cx="4613199" cy="261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16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4F91-1D66-07AC-9232-2123312A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B41-CC29-D012-EC16-D43FB371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927680" cy="4023360"/>
          </a:xfrm>
        </p:spPr>
        <p:txBody>
          <a:bodyPr/>
          <a:lstStyle/>
          <a:p>
            <a:pPr algn="just"/>
            <a:r>
              <a:rPr lang="en-IN" dirty="0"/>
              <a:t>Here the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architecture of </a:t>
            </a:r>
            <a:r>
              <a:rPr lang="en-US" dirty="0" err="1"/>
              <a:t>keras</a:t>
            </a:r>
            <a:r>
              <a:rPr lang="en-US" dirty="0"/>
              <a:t> TensorFlow, which is a pre-trained convolutional neural network (CNN) for image classification is used.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How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Works?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is trained on large-scale datasets like ImageNet, making it capable of generalizing well to a variety of image recognition tasks. Its efficiency and accuracy make it particularly useful for applications on mobile devices, where computational resources may be limited.</a:t>
            </a:r>
          </a:p>
          <a:p>
            <a:pPr marL="128016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48EDF-F033-8DD0-DD08-2ECFDCAF0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90068" y="3429000"/>
            <a:ext cx="2817460" cy="1499616"/>
          </a:xfrm>
          <a:prstGeom prst="rect">
            <a:avLst/>
          </a:prstGeom>
        </p:spPr>
      </p:pic>
      <p:pic>
        <p:nvPicPr>
          <p:cNvPr id="4098" name="Picture 2" descr="robot isolated on background with Generative AI 24509142 PNG">
            <a:extLst>
              <a:ext uri="{FF2B5EF4-FFF2-40B4-BE49-F238E27FC236}">
                <a16:creationId xmlns:a16="http://schemas.microsoft.com/office/drawing/2014/main" id="{BB4FFD9E-2493-3A06-137A-634C67B10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2739612"/>
            <a:ext cx="2830010" cy="283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31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4F91-1D66-07AC-9232-2123312A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B41-CC29-D012-EC16-D43FB371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927680" cy="4023360"/>
          </a:xfrm>
        </p:spPr>
        <p:txBody>
          <a:bodyPr/>
          <a:lstStyle/>
          <a:p>
            <a:pPr algn="just"/>
            <a:r>
              <a:rPr lang="en-IN" dirty="0"/>
              <a:t>Here the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architecture of </a:t>
            </a:r>
            <a:r>
              <a:rPr lang="en-US" dirty="0" err="1"/>
              <a:t>keras</a:t>
            </a:r>
            <a:r>
              <a:rPr lang="en-US" dirty="0"/>
              <a:t> TensorFlow, which is a pre-trained convolutional neural network (CNN) for image classification is used.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How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Works?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is trained on large-scale datasets like ImageNet, making it capable of generalizing well to a variety of image recognition tasks. Its efficiency and accuracy make it particularly useful for applications on mobile devices, where computational resources may be limited.</a:t>
            </a:r>
          </a:p>
          <a:p>
            <a:pPr marL="128016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48EDF-F033-8DD0-DD08-2ECFDCAF0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48751" y="3041652"/>
            <a:ext cx="1322398" cy="703857"/>
          </a:xfrm>
          <a:prstGeom prst="rect">
            <a:avLst/>
          </a:prstGeom>
        </p:spPr>
      </p:pic>
      <p:pic>
        <p:nvPicPr>
          <p:cNvPr id="4098" name="Picture 2" descr="robot isolated on background with Generative AI 24509142 PNG">
            <a:extLst>
              <a:ext uri="{FF2B5EF4-FFF2-40B4-BE49-F238E27FC236}">
                <a16:creationId xmlns:a16="http://schemas.microsoft.com/office/drawing/2014/main" id="{BB4FFD9E-2493-3A06-137A-634C67B10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626" y="2732725"/>
            <a:ext cx="2830010" cy="283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7141720D-22C8-F466-1601-1D031C93887A}"/>
              </a:ext>
            </a:extLst>
          </p:cNvPr>
          <p:cNvSpPr/>
          <p:nvPr/>
        </p:nvSpPr>
        <p:spPr>
          <a:xfrm>
            <a:off x="9213448" y="2390315"/>
            <a:ext cx="1076446" cy="561229"/>
          </a:xfrm>
          <a:prstGeom prst="curvedDownArrow">
            <a:avLst>
              <a:gd name="adj1" fmla="val 25000"/>
              <a:gd name="adj2" fmla="val 50000"/>
              <a:gd name="adj3" fmla="val 294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27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4F91-1D66-07AC-9232-2123312A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B41-CC29-D012-EC16-D43FB371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927680" cy="4023360"/>
          </a:xfrm>
        </p:spPr>
        <p:txBody>
          <a:bodyPr/>
          <a:lstStyle/>
          <a:p>
            <a:pPr algn="just"/>
            <a:r>
              <a:rPr lang="en-IN" dirty="0"/>
              <a:t>Here the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architecture of </a:t>
            </a:r>
            <a:r>
              <a:rPr lang="en-US" dirty="0" err="1"/>
              <a:t>keras</a:t>
            </a:r>
            <a:r>
              <a:rPr lang="en-US" dirty="0"/>
              <a:t> TensorFlow, which is a pre-trained convolutional neural network (CNN) for image classification is used.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How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Works?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DenseNet201</a:t>
            </a:r>
            <a:r>
              <a:rPr lang="en-US" dirty="0"/>
              <a:t> is trained on large-scale datasets like ImageNet, making it capable of generalizing well to a variety of image recognition tasks. Its efficiency and accuracy make it particularly useful for applications on mobile devices, where computational resources may be limited.</a:t>
            </a:r>
          </a:p>
          <a:p>
            <a:pPr marL="128016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48EDF-F033-8DD0-DD08-2ECFDCAF0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40071" y="3382530"/>
            <a:ext cx="407523" cy="216907"/>
          </a:xfrm>
          <a:prstGeom prst="rect">
            <a:avLst/>
          </a:prstGeom>
        </p:spPr>
      </p:pic>
      <p:pic>
        <p:nvPicPr>
          <p:cNvPr id="4098" name="Picture 2" descr="robot isolated on background with Generative AI 24509142 PNG">
            <a:extLst>
              <a:ext uri="{FF2B5EF4-FFF2-40B4-BE49-F238E27FC236}">
                <a16:creationId xmlns:a16="http://schemas.microsoft.com/office/drawing/2014/main" id="{BB4FFD9E-2493-3A06-137A-634C67B10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626" y="2732725"/>
            <a:ext cx="2830010" cy="283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2F7A0E61-64F4-5C64-4356-0670CA68E157}"/>
              </a:ext>
            </a:extLst>
          </p:cNvPr>
          <p:cNvSpPr/>
          <p:nvPr/>
        </p:nvSpPr>
        <p:spPr>
          <a:xfrm>
            <a:off x="8031479" y="2362200"/>
            <a:ext cx="1830151" cy="729340"/>
          </a:xfrm>
          <a:prstGeom prst="wedgeEllipseCallout">
            <a:avLst>
              <a:gd name="adj1" fmla="val 26124"/>
              <a:gd name="adj2" fmla="val 764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2" descr="NumPy: Create a 1-D array going from 0 to 50 - w3resource">
            <a:extLst>
              <a:ext uri="{FF2B5EF4-FFF2-40B4-BE49-F238E27FC236}">
                <a16:creationId xmlns:a16="http://schemas.microsoft.com/office/drawing/2014/main" id="{6EA16FE0-6F84-C12D-E100-22A62EA0D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6154" b="87308" l="2628" r="45759">
                        <a14:foregroundMark x1="38351" y1="58846" x2="36798" y2="85385"/>
                        <a14:foregroundMark x1="45520" y1="60769" x2="45878" y2="77308"/>
                        <a14:foregroundMark x1="4182" y1="60000" x2="10992" y2="62308"/>
                        <a14:foregroundMark x1="2628" y1="66923" x2="3226" y2="83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3309" r="51228" b="8723"/>
          <a:stretch/>
        </p:blipFill>
        <p:spPr bwMode="auto">
          <a:xfrm>
            <a:off x="8331687" y="2593320"/>
            <a:ext cx="1104538" cy="2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404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4F91-1D66-07AC-9232-2123312A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B41-CC29-D012-EC16-D43FB371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521452" cy="4023360"/>
          </a:xfrm>
        </p:spPr>
        <p:txBody>
          <a:bodyPr/>
          <a:lstStyle/>
          <a:p>
            <a:pPr lvl="1"/>
            <a:r>
              <a:rPr lang="en-US" sz="2200" dirty="0"/>
              <a:t>Upload Image:</a:t>
            </a:r>
          </a:p>
          <a:p>
            <a:pPr marL="128016" lvl="1" indent="0">
              <a:buNone/>
            </a:pPr>
            <a:r>
              <a:rPr lang="en-US" sz="2200" dirty="0"/>
              <a:t>	Allows users to upload a food image 	from their device.</a:t>
            </a:r>
          </a:p>
          <a:p>
            <a:pPr lvl="1"/>
            <a:r>
              <a:rPr lang="en-US" sz="2200" dirty="0"/>
              <a:t>Take a Picture:</a:t>
            </a:r>
          </a:p>
          <a:p>
            <a:pPr marL="128016" lvl="1" indent="0">
              <a:buNone/>
            </a:pPr>
            <a:r>
              <a:rPr lang="en-US" sz="2200" dirty="0"/>
              <a:t>	Enables users to capture a photo using 	their device camera.</a:t>
            </a:r>
          </a:p>
          <a:p>
            <a:pPr lvl="1"/>
            <a:r>
              <a:rPr lang="en-US" sz="2200" dirty="0"/>
              <a:t>Generate Recipe:</a:t>
            </a:r>
          </a:p>
          <a:p>
            <a:pPr marL="128016" lvl="1" indent="0">
              <a:buNone/>
            </a:pPr>
            <a:r>
              <a:rPr lang="en-US" sz="2200" dirty="0"/>
              <a:t>	Centrally located to initiate the recipe 	generation process easily.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15A479-D832-45DB-AFDC-0E99DED9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551" y="2286000"/>
            <a:ext cx="4688321" cy="30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466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4F91-1D66-07AC-9232-2123312A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B41-CC29-D012-EC16-D43FB371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521452" cy="4023360"/>
          </a:xfrm>
        </p:spPr>
        <p:txBody>
          <a:bodyPr/>
          <a:lstStyle/>
          <a:p>
            <a:pPr marL="128016" lvl="1" indent="0">
              <a:buNone/>
            </a:pPr>
            <a:r>
              <a:rPr lang="en-US" sz="2200" dirty="0"/>
              <a:t>Result:</a:t>
            </a:r>
          </a:p>
          <a:p>
            <a:pPr lvl="1"/>
            <a:r>
              <a:rPr lang="en-US" sz="2200" dirty="0"/>
              <a:t>If recipes are returned, displays each 	recipe with its name, ingredients, cooking time, and directions.</a:t>
            </a:r>
          </a:p>
          <a:p>
            <a:pPr lvl="1"/>
            <a:r>
              <a:rPr lang="en-US" sz="2200" dirty="0"/>
              <a:t>If users are not satisfied with the initial 10 results, they can click "Show More Recipes" to view additional recipes.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8DE56-AF88-6FA3-777C-2F73D717B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424" y="1075790"/>
            <a:ext cx="3729448" cy="470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99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78AA-7C80-0874-5315-B574582B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Scopes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6BA63-13E5-2C77-2A1E-E677BD67D7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66"/>
          <a:stretch/>
        </p:blipFill>
        <p:spPr>
          <a:xfrm>
            <a:off x="4241101" y="2644140"/>
            <a:ext cx="3286125" cy="31032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D7C63-8DC4-82B2-3F6E-3C119B99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</a:t>
            </a:r>
            <a:r>
              <a:rPr lang="en-US" dirty="0"/>
              <a:t>Login Feature: Enhances user interaction with secure access.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02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4C36D9A0-5E4F-6E21-3E77-4A68968B2F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685" b="9294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1762BA-5128-04F2-FCFA-AA7373743A10}"/>
              </a:ext>
            </a:extLst>
          </p:cNvPr>
          <p:cNvSpPr txBox="1">
            <a:spLocks/>
          </p:cNvSpPr>
          <p:nvPr/>
        </p:nvSpPr>
        <p:spPr>
          <a:xfrm>
            <a:off x="1235964" y="2977056"/>
            <a:ext cx="9720072" cy="11203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5171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705</TotalTime>
  <Words>913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Courier New</vt:lpstr>
      <vt:lpstr>Roboto</vt:lpstr>
      <vt:lpstr>Tw Cen MT</vt:lpstr>
      <vt:lpstr>Tw Cen MT Condensed</vt:lpstr>
      <vt:lpstr>Wingdings</vt:lpstr>
      <vt:lpstr>Wingdings 3</vt:lpstr>
      <vt:lpstr>Integral</vt:lpstr>
      <vt:lpstr>RecipeLens Recipe from image</vt:lpstr>
      <vt:lpstr>What is RecipeLens?</vt:lpstr>
      <vt:lpstr>What is RecipeLens?</vt:lpstr>
      <vt:lpstr>What is RecipeLens?</vt:lpstr>
      <vt:lpstr>How recipelens work?</vt:lpstr>
      <vt:lpstr>How recipelens work?</vt:lpstr>
      <vt:lpstr>How recipelens work?</vt:lpstr>
      <vt:lpstr>Part 1 : Preprocessing of image</vt:lpstr>
      <vt:lpstr>Part 1 : Preprocessing of image</vt:lpstr>
      <vt:lpstr>Part 2 : Calculate similarity</vt:lpstr>
      <vt:lpstr>Part 3 : Retrieve the recipes</vt:lpstr>
      <vt:lpstr>Model</vt:lpstr>
      <vt:lpstr>Model</vt:lpstr>
      <vt:lpstr>Model</vt:lpstr>
      <vt:lpstr>Model</vt:lpstr>
      <vt:lpstr>User interface</vt:lpstr>
      <vt:lpstr>User interface</vt:lpstr>
      <vt:lpstr>Future Scopes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RecipeLens Recipe from image</dc:title>
  <dc:creator>Biplab Gorain</dc:creator>
  <cp:lastModifiedBy>Biplab Gorain</cp:lastModifiedBy>
  <cp:revision>5</cp:revision>
  <dcterms:created xsi:type="dcterms:W3CDTF">2023-12-04T10:18:03Z</dcterms:created>
  <dcterms:modified xsi:type="dcterms:W3CDTF">2024-06-16T19:42:32Z</dcterms:modified>
</cp:coreProperties>
</file>